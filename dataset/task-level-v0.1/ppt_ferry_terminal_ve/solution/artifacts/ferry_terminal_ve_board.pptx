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North Sound Terminal — Ramp NS-2 Value Engineering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1F3A5F"/>
                </a:solidFill>
              </a:defRPr>
            </a:pPr>
            <a:r>
              <a:t>Board decision artifact — independent senior civil engineer review</a:t>
            </a:r>
          </a:p>
          <a:p>
            <a:pPr>
              <a:defRPr sz="1200" b="0"/>
            </a:pPr>
          </a:p>
          <a:p>
            <a:pPr>
              <a:defRPr sz="1500" b="0"/>
            </a:pPr>
            <a:r>
              <a:t>Project: WSDOT Marine Project NS-27-041, Island County — 162-ft movable steel vehicle-transfer ramp</a:t>
            </a:r>
          </a:p>
          <a:p>
            <a:pPr>
              <a:defRPr sz="1300" b="0">
                <a:solidFill>
                  <a:srgbClr val="595959"/>
                </a:solidFill>
              </a:defRPr>
            </a:pPr>
            <a:r>
              <a:t>Memo basis: North_Sound_Terminal_Project_Memo.docx (E. Park, P.E., 2027-03-18), §1–§5</a:t>
            </a:r>
          </a:p>
          <a:p>
            <a:pPr>
              <a:defRPr sz="1200" b="0"/>
            </a:pPr>
          </a:p>
          <a:p>
            <a:pPr>
              <a:defRPr sz="1500" b="0"/>
            </a:pPr>
            <a:r>
              <a:t>DECISION REQUESTED: fix the defensible base scope and set the VE disposition for the</a:t>
            </a:r>
          </a:p>
          <a:p>
            <a:pPr>
              <a:defRPr sz="1500" b="0"/>
            </a:pPr>
            <a:r>
              <a:t>overlay/FRP alternative versus full steel deck-panel replacement, October 2027 – February 2028 construction.</a:t>
            </a:r>
          </a:p>
          <a:p>
            <a:pPr>
              <a:defRPr sz="1200" b="0"/>
            </a:pPr>
          </a:p>
          <a:p>
            <a:pPr>
              <a:defRPr sz="1400" b="1">
                <a:solidFill>
                  <a:srgbClr val="C0504D"/>
                </a:solidFill>
              </a:defRPr>
            </a:pPr>
            <a:r>
              <a:t>Evidence posture: all submitted estimates, annotations and assertions are treated as CLAIMS, not approvals.</a:t>
            </a:r>
          </a:p>
          <a:p>
            <a:pPr>
              <a:defRPr sz="1300" b="0">
                <a:solidFill>
                  <a:srgbClr val="595959"/>
                </a:solidFill>
              </a:defRPr>
            </a:pPr>
            <a:r>
              <a:t>Quantities, costs, evidence states and recommendation are identical to quantity_cost_decision_model.xlsx.</a:t>
            </a:r>
          </a:p>
          <a:p>
            <a:pPr>
              <a:defRPr sz="1300" b="0">
                <a:solidFill>
                  <a:srgbClr val="595959"/>
                </a:solidFill>
              </a:defRPr>
            </a:pPr>
            <a:r>
              <a:t>Prepared 2026-08-24. Companion workbook: quantity_cost_decision_model.xlsx (auditable calculation record).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Scope, Geometry and Governing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What is fixed, what is claimed, what governs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75488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Asset fact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 locator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Asset / movable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Ramp NS-2, 162.0 ft hinge-to-vessel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ferry_ramp_dimensions…csv "Total movable length"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 groups / takeoff segments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groups; 48 takeoff segments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same file; ramp_segment_takeoff.csv RMP-001…048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Nominal roadway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31.5 ft (segment clear widths 19.44–25.11 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dimensions file; takeoff cols 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Skew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max 41° (survey basis); hinges N 27° / S 33°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dimensions file rows "Maximum skew", "Hinge"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Plate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nominal 0.375 in; grid reading 0.31 in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dimensions file; ledger FEE-001/009/017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Authorized scope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panels, wearing surface, 2 skewed hinge joints, bearings, corrosion, coating, drainage, traffic, environmental, commissioning, optional FRP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Memo §1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Operational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≥1 ramp active except approved overnight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Memo §4; dimensions file "Minimum active ramps"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0916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/>
            </a:pPr>
            <a:r>
              <a:t>Governing references applied</a:t>
            </a:r>
          </a:p>
          <a:p>
            <a:pPr lvl="1">
              <a:spcAft>
                <a:spcPts val="600"/>
              </a:spcAft>
              <a:defRPr sz="900" b="0"/>
            </a:pPr>
            <a:r>
              <a:t>WSDOT BDM Ch.12 (M 23-50.24, Jun 2025): quantity computation ±1% final accuracy (12.2.4, PDF p.7); unit-cost appendices 12.3-A1…A4 (PDF pp.33–37)</a:t>
            </a:r>
          </a:p>
          <a:p>
            <a:pPr lvl="1">
              <a:spcAft>
                <a:spcPts val="600"/>
              </a:spcAft>
              <a:defRPr sz="900" b="0"/>
            </a:pPr>
            <a:r>
              <a:t>WSDOT Cost Estimating Manual M 30-34.04 (Feb 2026): DBB change-order contingency 4% (§14.19, PDF p.86); mobilization bands (Exh.14-5); BOE duties (§6.04)</a:t>
            </a:r>
          </a:p>
          <a:p>
            <a:pPr lvl="1">
              <a:spcAft>
                <a:spcPts val="600"/>
              </a:spcAft>
              <a:defRPr sz="900" b="0"/>
            </a:pPr>
            <a:r>
              <a:t>WSDOT Std Specs M 41-10 (2025): 1-09 measurement/payment principles; 6-03 structural steel; 6-02 joints; 6-07.3(12) ferry-terminal painting; 6-21/6-22 overlays</a:t>
            </a:r>
          </a:p>
          <a:p>
            <a:pPr lvl="1">
              <a:spcAft>
                <a:spcPts val="600"/>
              </a:spcAft>
              <a:defRPr sz="900" b="0"/>
            </a:pPr>
            <a:r>
              <a:t>FHWA VE policy (FHWA-HIF-24-080): VE must confirm needed functions and life-cycle cost (23 U.S.C. 106(f)(2), p.1); $40M bridge threshold not met — board-directed review</a:t>
            </a:r>
          </a:p>
          <a:p>
            <a:pPr lvl="1">
              <a:spcAft>
                <a:spcPts val="600"/>
              </a:spcAft>
              <a:defRPr sz="900" b="0"/>
            </a:pPr>
            <a:r>
              <a:t>FRED PPI PCU327320327320 (ready-mix concrete) — escalation proxy only; no steel/fabrication index supplied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Quantity Discipline — Four Quantities, Kept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Memo §2: physical, spec-payable, technician, quoted must not be conflated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2651760"/>
                <a:gridCol w="2286000"/>
                <a:gridCol w="1828800"/>
              </a:tblGrid>
              <a:tr h="406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 family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Physical (recomputed)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Spec-payable (clause)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Technician / vendor schedule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Bid (quoted)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 removal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3,978.59 (Σ L×W)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3,977.6 @0.1 SF (FMR-001)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3,877.2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steel panels (SF)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3,978.59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 whole SF (FMR-002)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3,877.2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Hinge/joint seals (LF)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1,255.33 skew-true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1,255.6 @0.1 LF (FMR-004)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1,069.2 (skew ignored)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1,260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Wearing overlay (SF, VE)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3,978.59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 whole SF (FMR-003)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repair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169.02 mapped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170 whole SF (FMR-006)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780 (unverified)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Bearings (EA)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 (FMR-005)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Coating + containment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 DFT-passing only (FMR-007)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FRP zones (SF, VE)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 max boundary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 after qualification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0749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/>
            </a:pPr>
            <a:r>
              <a:t>Reading: bid panel quantities match recomputed plan geometry within 0.1% — the base bid is dimensionally honest; vendor per-segment schedule (3,877.2 SF) is not the pay basis.</a:t>
            </a:r>
          </a:p>
          <a:p>
            <a:pPr>
              <a:spcAft>
                <a:spcPts val="600"/>
              </a:spcAft>
              <a:defRPr sz="1200" b="1"/>
            </a:pPr>
            <a:r>
              <a:t>Corrosion is the live quantity conflict: mapped 170 SF vs technician 780 SF vs bid 820 SF — payable is mapped only; the rest is a named risk allowance, not scope.</a:t>
            </a:r>
          </a:p>
          <a:p>
            <a:pPr>
              <a:spcAft>
                <a:spcPts val="600"/>
              </a:spcAft>
              <a:defRPr sz="1200" b="1"/>
            </a:pPr>
            <a:r>
              <a:t>Joint payable length uses geometric skew (W/cos θ) per FMR-004; the vendor schedule under-measures by 15% by ignoring skew.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Segment Takeoff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Independent recomputation of ramp_segment_takeoff.csv (48 segments)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9C1F1F"/>
                </a:solidFill>
              </a:defRPr>
            </a:pPr>
            <a:r>
              <a:t>Boundary U1 — coverage: Σ segment lengths = 178.2 ft vs stated movable length 162.0 ft (+9.1%). Payable quantities carry the full takeoff; if the 162-ft movable limit governs, panel/joint scope reduces ~9.1%. Confirm before PS&amp;E.</a:t>
            </a:r>
          </a:p>
          <a:p>
            <a:pPr>
              <a:spcAft>
                <a:spcPts val="600"/>
              </a:spcAft>
              <a:defRPr sz="1400" b="1">
                <a:solidFill>
                  <a:srgbClr val="9C1F1F"/>
                </a:solidFill>
              </a:defRPr>
            </a:pPr>
            <a:r>
              <a:t>Boundary U2 — joint scope: takeoff joint network = 1,255.3 LF skew-true (matches bid 1,260 LF) but the two-hinge geometry is only 71.8 LF (N: 30.8 ft @ 27°; S: 31.2 ft @ 33°). Which network is in scope is unresolved; quantities carry the 48-segment network.</a:t>
            </a:r>
          </a:p>
          <a:p>
            <a:pPr>
              <a:spcAft>
                <a:spcPts val="600"/>
              </a:spcAft>
              <a:defRPr sz="1400" b="1"/>
            </a:pPr>
            <a:r>
              <a:t>Verification mix: 16 verified / 16 submitted / 16 field-check-required segments. BDM 12.2.4 requires ±1% final quantity accuracy — the 32 non-verified segments must be field-checked before final contract quantities.</a:t>
            </a:r>
          </a:p>
          <a:p>
            <a:pPr>
              <a:spcAft>
                <a:spcPts val="600"/>
              </a:spcAft>
              <a:defRPr sz="1400" b="1"/>
            </a:pPr>
            <a:r>
              <a:t>In-plan skew does not inflate panel plate surface (parallelogram area = L × clear width); it DOES lengthen joints (W/cos θ). The bid got both right; the vendor schedule got both wrong.</a:t>
            </a:r>
          </a:p>
          <a:p>
            <a:pPr>
              <a:spcAft>
                <a:spcPts val="600"/>
              </a:spcAft>
              <a:defRPr sz="1400" b="0"/>
            </a:pPr>
            <a:r>
              <a:t>Locator: Segment_Takeoff sheet rows 5–52 with per-segment formulas; totals row 53; variance column O isolates per-segment vendor-schedule overstatement.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Measurement &amp; Payment Clauses — What They Do to the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ferry_measurement_payment_rules.csv FMR-001…012 + WSDOT Std Spec 1-09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612648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Clause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 basis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Effect on this project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FMR-001/002 panels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accepted removed / installed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schedule quantities excluded; pay = 3,977.6 / 3,980 SF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FMR-004 hinge joint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geometric skew length, 0.1 LF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Pay 1,255.6 LF; vendor 1,069.2 LF non-payable as documented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FMR-006 corrosion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mapped steel-loss area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Unmapped steel excluded → 170 SF payable; 780 SF is allowance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FMR-007 coating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DFT-passing surface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 SF "not payable until accepted"; adhesion claim contradicted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FMR-005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 zone, whole 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Unverified adjacent damage excluded → A01 NDE is the hedge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FMR-009/010 LS &amp; staging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accepted contract basis / approved stage plan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Unapproved service outage non-payable; closure approval is a gate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FMR-012 risk allowance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board-approved risk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Allowances (B06, V04, V07, A02) need named-risk documentation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406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r>
              <a:t>Std Spec 1-09.3 (book p.1-128, PDF p.180): unit prices are full payment "in place"; no double payment across items. 1-09.1: no measurement for rejected work or work outside plan lines.</a:t>
            </a:r>
          </a:p>
          <a:p>
            <a:pPr>
              <a:spcAft>
                <a:spcPts val="600"/>
              </a:spcAft>
              <a:defRPr sz="1200" b="0"/>
            </a:pPr>
            <a:r>
              <a:t>Std Spec 6-07.5 (PDF p.564): coating progress payments only for area "satisfactorily cleaned and coated" — consistent with FMR-007 DFT-passing basis.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/ Evidence Gate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ferry_engineering_evidence_ledger.csv — 24 rows = 8 gates × 3 identical repeats (counted once, not thrice)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737360"/>
                <a:gridCol w="1828800"/>
                <a:gridCol w="5120640"/>
              </a:tblGrid>
              <a:tr h="467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Decision impact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Steel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0.31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If verified low, VE substrate fails → base forced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loss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18% UT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≈716 SF deck-wide — supports technician 780 SF over mapped 170 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Coating adhesion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CONTRADICTED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Overlay bond + coating acceptance unreliable until resolved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Chlorides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6.8 µg/cm²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FIELD-VERIFY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Drives prep level and overlay bond risk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Hinge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27° skew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pay basis; boundary U2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G6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Bearings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B04 scope conditional → accept A01 NDE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Tidal 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hr/night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CONTRADICTED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 staging feasibility; A02 deferred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FRP qualification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submittal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FIELD-VERIFY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Condition precedent to VE award (23 U.S.C. 106(f)(2) function test)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623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C1F1F"/>
                </a:solidFill>
              </a:defRPr>
            </a:pPr>
            <a:r>
              <a:t>Five of eight gates are not decision-grade: 2 contradicted, 2 field-verification-required, 1 submitted-only. Only corrosion loss and bearing condition are independently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Submitted Estimates — Internally Consistent, Externally Unverified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ferry_base_ve_bid_items.csv (estimate dates 2027-02-15 base / 2027-04-01 VE)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539496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Submitted 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Composition flags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— full replacement (B01–B07)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$5,930,700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B01 removal and B06 staging are "allowance" scope_status, not firm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 — overlay/FRP (V01–V07)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$2,959,140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V04 seals and V07 qualification carry allowance/qualification risk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alternates (A01–A02)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$331,200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A02 is allowance pending operations confirmation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Submitted VE saving claim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$2,971,560 (50.1%)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Arithmetic checks: every qty × unit = stated amount (Δ = 0)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6576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t>All 17 line items recompute exactly (Submitted_Bids sheet, Δ column = 0). Internal consistency ≠ accuracy: quantities and prices remain submitted_unverified.</a:t>
            </a:r>
          </a:p>
          <a:p>
            <a:pPr>
              <a:spcAft>
                <a:spcPts val="600"/>
              </a:spcAft>
              <a:defRPr sz="1300" b="1"/>
            </a:pPr>
            <a:r>
              <a:t>Bid quantities use plan geometry for panels (correct) and skew-true length for joints (correct) — but corrosion (820 SF) exceeds mapped extent by 4.8× without evidence.</a:t>
            </a:r>
          </a:p>
          <a:p>
            <a:pPr>
              <a:spcAft>
                <a:spcPts val="600"/>
              </a:spcAft>
              <a:defRPr sz="1300" b="0"/>
            </a:pPr>
            <a:r>
              <a:t>Mobilization B07 $525,000 = 9.7% of base work — inside CEM Exh.14-5 band (8–10% for $5–10M contracts), though bundled "submitted allowances" need breakdown per CEM §10.07.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&amp; Escalation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WSDOT benchmark ranges vs submitted unit prices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4023360"/>
                <a:gridCol w="3566160"/>
              </a:tblGrid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Benchmark (locator)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B02 orthotropic panels $/SF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Carbon steel $2.75–3.75/LB (BDM App.12.3-A3, p.35)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comparable benchmark — UNVALIDATED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B05 coating+containment $/SF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Painting existing steel $15–45/SF (BDM App.12.3-A4, p.37)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ABOVE range; ferry-terminal Class-1 containment (Std Spec 6-07.3(12)) is onerous — premium UNVALIDATED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B03 hinge seals $/LF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Strip seal $450–900/LF (BDM p.36)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Within range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V04 seal rehab $/LF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515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Strip seal $450–900/LF (BDM p.36)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Within range (low end)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V05 corrosion repair $/SF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Bridge deck repair $150–350/SF (BDM p.37)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Within range (proxy only)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V03 wearing overlay $/SF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Mod. conc. overlay $35–50/CF, $40–75/SY (BDM p.36)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Different system — UNVALIDATED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+2.18%/yr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FRED PPI PCU327320327320, 2025-07→2026-07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Concrete index proxy; steel index not supplied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120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/>
            </a:pPr>
            <a:r>
              <a:t>WSDOT 2025 bid history (33 contracts, Jan–Jun 2025): median low bid −4.3% vs engineer estimate (21/33 under). Only comparable marine contract: Bremerton Ferry Terminal steel dolphin replacement (p.6, XE3589, est $3.09M, low bid $2.87M = −7.0%, 4 bidders). No orthotropic/FRP/ramp items — specialty prices unvalidated.</a:t>
            </a:r>
          </a:p>
          <a:p>
            <a:pPr>
              <a:spcAft>
                <a:spcPts val="600"/>
              </a:spcAft>
              <a:defRPr sz="1200" b="1">
                <a:solidFill>
                  <a:srgbClr val="9C1F1F"/>
                </a:solidFill>
              </a:defRPr>
            </a:pPr>
            <a:r>
              <a:t>Consequence: ~$3.9M of the $5.9M base (panels + coating) and ~$1.4M of VE (FRP + overlay) prices rest on unvalidated submitted pricing. Independent totals inherit this risk — stated, not hidden.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Independent Estimate &amp; Zero-Residual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Payable quantities × submitted price basis + escalation + 4% DBB contingency (CEM §14.19)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2377440"/>
                <a:gridCol w="246888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Walk 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 ($)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 ($)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Submitted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5,930,700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2,959,140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 removal qty → 3,977.6 SF (FMR-001)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−230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length → 1,255.6 LF (FMR-004)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−3,696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−2,266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→ mapped 170 SF (FMR-006)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−159,900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Named risk allowance: corrosion to 780 SF (FMR-012)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+150,060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Price-basis adjustment (none — no independent pricing supplied)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Escalation to midpoint (+2.18%/yr × 0.85 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+109,645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+54,520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Change-order contingency 4%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+241,457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+120,062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INDEPENDENT TOTAL (residual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6,277,875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3,121,616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864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E753A"/>
                </a:solidFill>
              </a:defRPr>
            </a:pPr>
            <a:r>
              <a:t>Independent VE advantage: $3,156,259 first cost — LARGER than the submitted claim ($2,971,560) because the base bid carries more unfounded quantity than the VE bid.</a:t>
            </a:r>
          </a:p>
          <a:p>
            <a:pPr>
              <a:spcAft>
                <a:spcPts val="600"/>
              </a:spcAft>
              <a:defRPr sz="1200" b="0"/>
            </a:pPr>
            <a:r>
              <a:t>Excluded per BDM 12.3.3: sales tax, PE/CE engineering; program level adds per CEM Exh.7-3/7-5. Bridge sheet residual formulas evaluate to exactly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Lifecycle Present Worth — 40-Year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Parameters: 3% real discount (2–4% tested); VE renewal = full scope repeat at yr 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931920"/>
              </a:tblGrid>
              <a:tr h="44413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 replacement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 overlay/FRP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Initial independent total (YOE 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6,277,875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3,121,616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 life basis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 yr (planning assumption)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 yr CLAIMED, unverified (P06)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Renewal 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+1,629,148 at yr 22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Lifecycle PW total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6,277,875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4,750,764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 lifecycle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$1,527,111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 2% / 4% real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advantage holds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holds at both bounds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572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t>VE is PW-preferred even with a full-scope renewal at year 22, because the VE initial price is ~50% of base. Cost arithmetic does not decide this — evidence does.</a:t>
            </a:r>
          </a:p>
          <a:p>
            <a:pPr>
              <a:spcAft>
                <a:spcPts val="600"/>
              </a:spcAft>
              <a:defRPr sz="1300" b="0"/>
            </a:pPr>
            <a:r>
              <a:t>Symmetrical exclusions: routine maintenance and residual value not supplied for either option; base-option overlay renewals within 40 yr not modelled (not supplied).</a:t>
            </a:r>
          </a:p>
          <a:p>
            <a:pPr>
              <a:spcAft>
                <a:spcPts val="600"/>
              </a:spcAft>
              <a:defRPr sz="1300" b="0"/>
            </a:pPr>
            <a:r>
              <a:t>Locator: Lifecycle sheet rows 5–12; sensitivity rows 16–18; Recommendation figure cells link to Lifecycle!B12/C12.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Switches — What Would Change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Sensitivity_Switch sheet; all formulas live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4023360"/>
              </a:tblGrid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Switch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Disposition if triggered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 VE system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≤ 16 yr → 2nd renewal inside 40 yr erases PW advantage (at 16 yr: −$1,268)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to base replacement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FRP qualification (G8)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fails field verification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— function cannot be confirmed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Steel thickness (G1)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 &lt; 0.31 in submitted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— overlay substrate inadequate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Adhesion / chlorides (G3/G4)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contradiction unresolved or over threshold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or re-price prep scope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Closure windows (G7)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≥6-hr nights not confirmed in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 staging infeasible as priced; A02 ($52k/window) or REVERT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extent (cost only)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breakeven ≈ 12,800 SF &gt; deck area 3,978.6 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Cannot flip arithmetically; matters via substrate adequacy (G1/G2)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406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r>
              <a:t>Checked non-switches: quantity corrections (&lt;0.4% of totals), discount rate 2–4%, mobilization band position — none move the ranking.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Operational &amp; Environmental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Hard constraints that bound both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Service floor: at least one vehicle-transfer ramp active at all times except approved overnight windows (Memo §4; dimensions "Minimum active ramps" = 1).</a:t>
            </a:r>
          </a:p>
          <a:p>
            <a:pPr>
              <a:spcAft>
                <a:spcPts val="600"/>
              </a:spcAft>
              <a:defRPr sz="1400" b="1"/>
            </a:pPr>
            <a:r>
              <a:t>Night closure maximum 6 hr — CONTRADICTED evidence (FEE-007/015/023). Until operations confirms windows in writing, VE overlay cure/staging is unschedulable as priced; A02 deferred.</a:t>
            </a:r>
          </a:p>
          <a:p>
            <a:pPr>
              <a:spcAft>
                <a:spcPts val="600"/>
              </a:spcAft>
              <a:defRPr sz="1400" b="1"/>
            </a:pPr>
            <a:r>
              <a:t>Environmental: containment required for coating/removal (dimensions "Containment: required"). Std Spec 6-07.3(10)A SSPC Guide 6 Class 1 full enclosure; waste testing/disposal per 6-07.3(10)F (TCLP, WAC 173-303); FMR-011 excludes penalties/rework from payment.</a:t>
            </a:r>
          </a:p>
          <a:p>
            <a:pPr>
              <a:spcAft>
                <a:spcPts val="600"/>
              </a:spcAft>
              <a:defRPr sz="1400" b="1"/>
            </a:pPr>
            <a:r>
              <a:t>Season: construction Oct 2027–Feb 2028 matches the marine work window (CEM §10.09: marine peak Nov–Mar, PDF p.51) — advertise several months ahead.</a:t>
            </a:r>
          </a:p>
          <a:p>
            <a:pPr>
              <a:spcAft>
                <a:spcPts val="600"/>
              </a:spcAft>
              <a:defRPr sz="1400" b="0"/>
            </a:pPr>
            <a:r>
              <a:t>Std Spec 2-02.3(2)A1: bridge demolition plan (Type 2E working drawing) with containment/debris control required for panel removal — include in staging conditions.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Defensible base scope + conditional VE disposition + decision-changing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53A"/>
                </a:solidFill>
              </a:defRPr>
            </a:pPr>
            <a:r>
              <a:t>R1 — BASE SCOPE (decision floor): full replacement at payable quantities — remove 3,977.6 SF; new panels 3,980 SF; joint seals 1,255.6 LF; bearings 24 EA; coating 5,240 SF DFT-passing. Independent total $6,277,875 (YOE, incl. escalation + 4% COC).</a:t>
            </a:r>
          </a:p>
          <a:p>
            <a:pPr>
              <a:spcAft>
                <a:spcPts val="600"/>
              </a:spcAft>
              <a:defRPr sz="1300" b="1">
                <a:solidFill>
                  <a:srgbClr val="2E753A"/>
                </a:solidFill>
              </a:defRPr>
            </a:pPr>
            <a:r>
              <a:t>R2 — VE DISPOSITION: CONDITIONAL APPROVAL. Overlay/FRP at $3,121,616 independent (first-cost advantage $3,156,259; 40-yr PW advantage $1,527,111) is approvable ONLY after gates G1–G8 actions complete and verified system life &gt; 16 yr. Any failure of G1/G3/G4/G7/G8 → revert to R1.</a:t>
            </a:r>
          </a:p>
          <a:p>
            <a:pPr>
              <a:spcAft>
                <a:spcPts val="600"/>
              </a:spcAft>
              <a:defRPr sz="1300" b="1">
                <a:solidFill>
                  <a:srgbClr val="2E753A"/>
                </a:solidFill>
              </a:defRPr>
            </a:pPr>
            <a:r>
              <a:t>R3 — ADD-ALTERNATES: accept A01 expanded bearing NDE ($175,200) now; defer A02 closure windows ($156,000 allowance) pending written operations confirmation.</a:t>
            </a:r>
          </a:p>
          <a:p>
            <a:pPr>
              <a:spcAft>
                <a:spcPts val="600"/>
              </a:spcAft>
              <a:defRPr sz="1300" b="1">
                <a:solidFill>
                  <a:srgbClr val="9C1F1F"/>
                </a:solidFill>
              </a:defRPr>
            </a:pPr>
            <a:r>
              <a:t>R4 — UNRESOLVED BOUNDARIES (stated, not fabricated): U1 takeoff 178.2 ft vs movable 162.0 ft; U2 joint network 1,255.3 LF vs two-hinge 71.8 LF; U3 corrosion 170/780/820 SF; U4 unvalidated panel/coating/FRP/overlay prices; U5 concrete-PPI escalation proxy; U6 assumed 3% discount rate.</a:t>
            </a:r>
          </a:p>
          <a:p>
            <a:pPr>
              <a:spcAft>
                <a:spcPts val="600"/>
              </a:spcAft>
              <a:defRPr sz="1300" b="0"/>
            </a:pPr>
            <a:r>
              <a:t>Process: recompute to ±1% before PS&amp;E (BDM 12.2.4); BOE documentation per CEM §6.04; VE per FHWA practice (FHWA-HIF-24-080) — federal $40M threshold not triggered; this is a board-directed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