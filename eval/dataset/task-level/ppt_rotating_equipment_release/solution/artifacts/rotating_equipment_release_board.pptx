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FAT Overall Vibration by Point — Original vs Retest vs VR-001 Limit (mm/s RMS)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FAT (2026-05-12)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3.001</c:v>
                </c:pt>
                <c:pt idx="1">
                  <c:v>2.176</c:v>
                </c:pt>
                <c:pt idx="2">
                  <c:v>2.005</c:v>
                </c:pt>
                <c:pt idx="3">
                  <c:v>2.49</c:v>
                </c:pt>
                <c:pt idx="4">
                  <c:v>2.049</c:v>
                </c:pt>
                <c:pt idx="5">
                  <c:v>1.801</c:v>
                </c:pt>
                <c:pt idx="6">
                  <c:v>2.349</c:v>
                </c:pt>
                <c:pt idx="7">
                  <c:v>1.913</c:v>
                </c:pt>
                <c:pt idx="8">
                  <c:v>4.013</c:v>
                </c:pt>
                <c:pt idx="9">
                  <c:v>2.018</c:v>
                </c:pt>
                <c:pt idx="10">
                  <c:v>1.686</c:v>
                </c:pt>
                <c:pt idx="11">
                  <c:v>1.864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Retest (2026-05-15)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2.623</c:v>
                </c:pt>
                <c:pt idx="1">
                  <c:v>2.042</c:v>
                </c:pt>
                <c:pt idx="2">
                  <c:v>1.916</c:v>
                </c:pt>
                <c:pt idx="3">
                  <c:v>2.217</c:v>
                </c:pt>
                <c:pt idx="4">
                  <c:v>1.831</c:v>
                </c:pt>
                <c:pt idx="5">
                  <c:v>1.626</c:v>
                </c:pt>
                <c:pt idx="6">
                  <c:v>2.225</c:v>
                </c:pt>
                <c:pt idx="7">
                  <c:v>1.811</c:v>
                </c:pt>
                <c:pt idx="8">
                  <c:v>2.806</c:v>
                </c:pt>
                <c:pt idx="9">
                  <c:v>1.916</c:v>
                </c:pt>
                <c:pt idx="10">
                  <c:v>1.536</c:v>
                </c:pt>
                <c:pt idx="11">
                  <c:v>1.688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VR-001 Limit (3.8)</c:v>
                </c:pt>
              </c:strCache>
            </c:strRef>
          </c:tx>
          <c:spPr>
            <a:solidFill>
              <a:srgbClr val="BF8F00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3.8</c:v>
                </c:pt>
                <c:pt idx="1">
                  <c:v>3.8</c:v>
                </c:pt>
                <c:pt idx="2">
                  <c:v>3.8</c:v>
                </c:pt>
                <c:pt idx="3">
                  <c:v>3.8</c:v>
                </c:pt>
                <c:pt idx="4">
                  <c:v>3.8</c:v>
                </c:pt>
                <c:pt idx="5">
                  <c:v>3.8</c:v>
                </c:pt>
                <c:pt idx="6">
                  <c:v>3.8</c:v>
                </c:pt>
                <c:pt idx="7">
                  <c:v>3.8</c:v>
                </c:pt>
                <c:pt idx="8">
                  <c:v>3.8</c:v>
                </c:pt>
                <c:pt idx="9">
                  <c:v>3.8</c:v>
                </c:pt>
                <c:pt idx="10">
                  <c:v>3.8</c:v>
                </c:pt>
                <c:pt idx="11">
                  <c:v>3.8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Overall velocity RMS (mm/s)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Vibration vs Speed (PMP_DE_H)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Run-Up</c:v>
                </c:pt>
              </c:strCache>
            </c:strRef>
          </c:tx>
          <c:spPr>
            <a:ln w="47625">
              <a:solidFill>
                <a:srgbClr val="1F4E79"/>
              </a:solidFill>
            </a:ln>
          </c:spPr>
          <c:xVal>
            <c:numRef>
              <c:f>Sheet1!$A$2:$A$28</c:f>
              <c:numCache>
                <c:formatCode>General</c:formatCode>
                <c:ptCount val="27"/>
                <c:pt idx="0">
                  <c:v>0.0</c:v>
                </c:pt>
                <c:pt idx="1">
                  <c:v>151.0</c:v>
                </c:pt>
                <c:pt idx="2">
                  <c:v>302.0</c:v>
                </c:pt>
                <c:pt idx="3">
                  <c:v>453.0</c:v>
                </c:pt>
                <c:pt idx="4">
                  <c:v>604.1</c:v>
                </c:pt>
                <c:pt idx="5">
                  <c:v>755.1</c:v>
                </c:pt>
                <c:pt idx="6">
                  <c:v>906.1</c:v>
                </c:pt>
                <c:pt idx="7">
                  <c:v>1057.1</c:v>
                </c:pt>
                <c:pt idx="8">
                  <c:v>1208.1</c:v>
                </c:pt>
                <c:pt idx="9">
                  <c:v>1359.1</c:v>
                </c:pt>
                <c:pt idx="10">
                  <c:v>1510.1</c:v>
                </c:pt>
                <c:pt idx="11">
                  <c:v>1661.1</c:v>
                </c:pt>
                <c:pt idx="12">
                  <c:v>1812.2</c:v>
                </c:pt>
                <c:pt idx="13">
                  <c:v>1963.2</c:v>
                </c:pt>
                <c:pt idx="14">
                  <c:v>2114.2</c:v>
                </c:pt>
                <c:pt idx="15">
                  <c:v>2265.2</c:v>
                </c:pt>
                <c:pt idx="16">
                  <c:v>2416.2</c:v>
                </c:pt>
                <c:pt idx="17">
                  <c:v>2567.2</c:v>
                </c:pt>
                <c:pt idx="18">
                  <c:v>2718.2</c:v>
                </c:pt>
                <c:pt idx="19">
                  <c:v>2818.9</c:v>
                </c:pt>
                <c:pt idx="20">
                  <c:v>2899.5</c:v>
                </c:pt>
                <c:pt idx="21">
                  <c:v>2939.7</c:v>
                </c:pt>
                <c:pt idx="22">
                  <c:v>2969.9</c:v>
                </c:pt>
                <c:pt idx="23">
                  <c:v>2980.0</c:v>
                </c:pt>
                <c:pt idx="24">
                  <c:v>2980.0</c:v>
                </c:pt>
                <c:pt idx="25">
                  <c:v>2980.0</c:v>
                </c:pt>
                <c:pt idx="26">
                  <c:v>2980.0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0.021</c:v>
                </c:pt>
                <c:pt idx="1">
                  <c:v>0.083</c:v>
                </c:pt>
                <c:pt idx="2">
                  <c:v>0.156</c:v>
                </c:pt>
                <c:pt idx="3">
                  <c:v>0.25</c:v>
                </c:pt>
                <c:pt idx="4">
                  <c:v>0.395</c:v>
                </c:pt>
                <c:pt idx="5">
                  <c:v>0.541</c:v>
                </c:pt>
                <c:pt idx="6">
                  <c:v>0.738</c:v>
                </c:pt>
                <c:pt idx="7">
                  <c:v>0.926</c:v>
                </c:pt>
                <c:pt idx="8">
                  <c:v>1.186</c:v>
                </c:pt>
                <c:pt idx="9">
                  <c:v>1.435</c:v>
                </c:pt>
                <c:pt idx="10">
                  <c:v>1.789</c:v>
                </c:pt>
                <c:pt idx="11">
                  <c:v>2.09</c:v>
                </c:pt>
                <c:pt idx="12">
                  <c:v>2.444</c:v>
                </c:pt>
                <c:pt idx="13">
                  <c:v>2.787</c:v>
                </c:pt>
                <c:pt idx="14">
                  <c:v>2.517</c:v>
                </c:pt>
                <c:pt idx="15">
                  <c:v>2.267</c:v>
                </c:pt>
                <c:pt idx="16">
                  <c:v>2.402</c:v>
                </c:pt>
                <c:pt idx="17">
                  <c:v>2.621</c:v>
                </c:pt>
                <c:pt idx="18">
                  <c:v>2.818</c:v>
                </c:pt>
                <c:pt idx="19">
                  <c:v>2.933</c:v>
                </c:pt>
                <c:pt idx="20">
                  <c:v>2.891</c:v>
                </c:pt>
                <c:pt idx="21">
                  <c:v>2.922</c:v>
                </c:pt>
                <c:pt idx="22">
                  <c:v>2.954</c:v>
                </c:pt>
                <c:pt idx="23">
                  <c:v>2.964</c:v>
                </c:pt>
                <c:pt idx="24">
                  <c:v>2.964</c:v>
                </c:pt>
                <c:pt idx="25">
                  <c:v>2.954</c:v>
                </c:pt>
                <c:pt idx="26">
                  <c:v>2.964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Sheet1!$B$30</c:f>
              <c:strCache>
                <c:ptCount val="1"/>
                <c:pt idx="0">
                  <c:v>Coast-Down</c:v>
                </c:pt>
              </c:strCache>
            </c:strRef>
          </c:tx>
          <c:spPr>
            <a:ln w="47625">
              <a:solidFill>
                <a:srgbClr val="C00000"/>
              </a:solidFill>
            </a:ln>
          </c:spPr>
          <c:xVal>
            <c:numRef>
              <c:f>Sheet1!$A$31:$A$52</c:f>
              <c:numCache>
                <c:formatCode>General</c:formatCode>
                <c:ptCount val="22"/>
                <c:pt idx="0">
                  <c:v>2980.0</c:v>
                </c:pt>
                <c:pt idx="1">
                  <c:v>2919.6</c:v>
                </c:pt>
                <c:pt idx="2">
                  <c:v>2818.9</c:v>
                </c:pt>
                <c:pt idx="3">
                  <c:v>2718.2</c:v>
                </c:pt>
                <c:pt idx="4">
                  <c:v>2567.2</c:v>
                </c:pt>
                <c:pt idx="5">
                  <c:v>2416.2</c:v>
                </c:pt>
                <c:pt idx="6">
                  <c:v>2265.2</c:v>
                </c:pt>
                <c:pt idx="7">
                  <c:v>2114.2</c:v>
                </c:pt>
                <c:pt idx="8">
                  <c:v>1963.2</c:v>
                </c:pt>
                <c:pt idx="9">
                  <c:v>1812.2</c:v>
                </c:pt>
                <c:pt idx="10">
                  <c:v>1661.1</c:v>
                </c:pt>
                <c:pt idx="11">
                  <c:v>1510.1</c:v>
                </c:pt>
                <c:pt idx="12">
                  <c:v>1359.1</c:v>
                </c:pt>
                <c:pt idx="13">
                  <c:v>1208.1</c:v>
                </c:pt>
                <c:pt idx="14">
                  <c:v>1057.1</c:v>
                </c:pt>
                <c:pt idx="15">
                  <c:v>906.1</c:v>
                </c:pt>
                <c:pt idx="16">
                  <c:v>755.1</c:v>
                </c:pt>
                <c:pt idx="17">
                  <c:v>604.1</c:v>
                </c:pt>
                <c:pt idx="18">
                  <c:v>453.0</c:v>
                </c:pt>
                <c:pt idx="19">
                  <c:v>302.0</c:v>
                </c:pt>
                <c:pt idx="20">
                  <c:v>151.0</c:v>
                </c:pt>
                <c:pt idx="21">
                  <c:v>0.0</c:v>
                </c:pt>
              </c:numCache>
            </c:numRef>
          </c:xVal>
          <c:yVal>
            <c:numRef>
              <c:f>Sheet1!$B$31:$B$52</c:f>
              <c:numCache>
                <c:formatCode>General</c:formatCode>
                <c:ptCount val="22"/>
                <c:pt idx="0">
                  <c:v>2.964</c:v>
                </c:pt>
                <c:pt idx="1">
                  <c:v>2.902</c:v>
                </c:pt>
                <c:pt idx="2">
                  <c:v>2.787</c:v>
                </c:pt>
                <c:pt idx="3">
                  <c:v>2.652</c:v>
                </c:pt>
                <c:pt idx="4">
                  <c:v>2.506</c:v>
                </c:pt>
                <c:pt idx="5">
                  <c:v>2.371</c:v>
                </c:pt>
                <c:pt idx="6">
                  <c:v>2.236</c:v>
                </c:pt>
                <c:pt idx="7">
                  <c:v>2.475</c:v>
                </c:pt>
                <c:pt idx="8">
                  <c:v>2.829</c:v>
                </c:pt>
                <c:pt idx="9">
                  <c:v>2.402</c:v>
                </c:pt>
                <c:pt idx="10">
                  <c:v>1.924</c:v>
                </c:pt>
                <c:pt idx="11">
                  <c:v>1.581</c:v>
                </c:pt>
                <c:pt idx="12">
                  <c:v>1.258</c:v>
                </c:pt>
                <c:pt idx="13">
                  <c:v>0.978</c:v>
                </c:pt>
                <c:pt idx="14">
                  <c:v>0.749</c:v>
                </c:pt>
                <c:pt idx="15">
                  <c:v>0.562</c:v>
                </c:pt>
                <c:pt idx="16">
                  <c:v>0.406</c:v>
                </c:pt>
                <c:pt idx="17">
                  <c:v>0.281</c:v>
                </c:pt>
                <c:pt idx="18">
                  <c:v>0.187</c:v>
                </c:pt>
                <c:pt idx="19">
                  <c:v>0.114</c:v>
                </c:pt>
                <c:pt idx="20">
                  <c:v>0.062</c:v>
                </c:pt>
                <c:pt idx="21">
                  <c:v>0.021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P-7402B Field Trend — PDE_H at ~95% BEP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P-7402B PDE_H (mm/s RMS)</c:v>
                </c:pt>
              </c:strCache>
            </c:strRef>
          </c:tx>
          <c:spPr>
            <a:ln>
              <a:solidFill>
                <a:srgbClr val="1F4E79"/>
              </a:solidFill>
            </a:ln>
          </c:spPr>
          <c:cat>
            <c:strRef>
              <c:f>Sheet1!$A$2:$A$9</c:f>
              <c:strCache>
                <c:ptCount val="8"/>
                <c:pt idx="0">
                  <c:v>Jul-25
580h</c:v>
                </c:pt>
                <c:pt idx="1">
                  <c:v>Oct-25
2720h</c:v>
                </c:pt>
                <c:pt idx="2">
                  <c:v>Jan-26
4980h</c:v>
                </c:pt>
                <c:pt idx="3">
                  <c:v>Apr-26
6940h</c:v>
                </c:pt>
                <c:pt idx="4">
                  <c:v>May-26
7920h</c:v>
                </c:pt>
                <c:pt idx="5">
                  <c:v>Jun-26
8040h</c:v>
                </c:pt>
                <c:pt idx="6">
                  <c:v>Sep-26
10560h</c:v>
                </c:pt>
                <c:pt idx="7">
                  <c:v>Dec-26
12840h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1.45</c:v>
                </c:pt>
                <c:pt idx="1">
                  <c:v>1.48</c:v>
                </c:pt>
                <c:pt idx="2">
                  <c:v>1.52</c:v>
                </c:pt>
                <c:pt idx="3">
                  <c:v>1.68</c:v>
                </c:pt>
                <c:pt idx="4">
                  <c:v>2.35</c:v>
                </c:pt>
                <c:pt idx="5">
                  <c:v>1.38</c:v>
                </c:pt>
                <c:pt idx="6">
                  <c:v>1.55</c:v>
                </c:pt>
                <c:pt idx="7">
                  <c:v>1.72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VR-001 Limit</c:v>
                </c:pt>
              </c:strCache>
            </c:strRef>
          </c:tx>
          <c:spPr>
            <a:ln>
              <a:solidFill>
                <a:srgbClr val="BF8F00"/>
              </a:solidFill>
            </a:ln>
          </c:spPr>
          <c:cat>
            <c:strRef>
              <c:f>Sheet1!$A$2:$A$9</c:f>
              <c:strCache>
                <c:ptCount val="8"/>
                <c:pt idx="0">
                  <c:v>Jul-25
580h</c:v>
                </c:pt>
                <c:pt idx="1">
                  <c:v>Oct-25
2720h</c:v>
                </c:pt>
                <c:pt idx="2">
                  <c:v>Jan-26
4980h</c:v>
                </c:pt>
                <c:pt idx="3">
                  <c:v>Apr-26
6940h</c:v>
                </c:pt>
                <c:pt idx="4">
                  <c:v>May-26
7920h</c:v>
                </c:pt>
                <c:pt idx="5">
                  <c:v>Jun-26
8040h</c:v>
                </c:pt>
                <c:pt idx="6">
                  <c:v>Sep-26
10560h</c:v>
                </c:pt>
                <c:pt idx="7">
                  <c:v>Dec-26
12840h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3.8</c:v>
                </c:pt>
                <c:pt idx="1">
                  <c:v>3.8</c:v>
                </c:pt>
                <c:pt idx="2">
                  <c:v>3.8</c:v>
                </c:pt>
                <c:pt idx="3">
                  <c:v>3.8</c:v>
                </c:pt>
                <c:pt idx="4">
                  <c:v>3.8</c:v>
                </c:pt>
                <c:pt idx="5">
                  <c:v>3.8</c:v>
                </c:pt>
                <c:pt idx="6">
                  <c:v>3.8</c:v>
                </c:pt>
                <c:pt idx="7">
                  <c:v>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</a:defRPr>
            </a:pPr>
            <a:r>
              <a:t>ROTATING EQUIPMENT RELEASE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D6E4F0"/>
                </a:solidFill>
              </a:defRPr>
            </a:pPr>
            <a:r>
              <a:t>P-7402A Produced Water Reinjection Pump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D6E4F0"/>
                </a:solidFill>
              </a:defRPr>
            </a:pPr>
            <a:r>
              <a:t>Post-Impeller Work · Repeat FAT Disposition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6E4F0"/>
                </a:solidFill>
              </a:defRPr>
            </a:pPr>
            <a:r>
              <a:t>North Platform Reinjection Debottleneck  |  PO-2026-0742  |  Model PWRI-220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D6E4F0"/>
                </a:solidFill>
              </a:defRPr>
            </a:pPr>
            <a:r>
              <a:t>Prepared by: Rotating-Equipment Reliability Lead   |   Date: 2026-09-02   |   Workbook: fat_integrity_workbook.xlsx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1.  Executive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914400"/>
          </a:xfrm>
          <a:prstGeom prst="round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DISPOSITION:  CONDITIONAL RELEASE  —  Subject to 12 mandatory closure actions (C-01–C-12)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62626"/>
                </a:solidFill>
              </a:defRPr>
            </a:pPr>
            <a:r>
              <a:t>Release P-7402A for offshore commissioning under a defined set of field-verification gates and operating constraints. The repeat FAT after impeller work shows substantial improvement in the BEP region (90-100% BEP fully compliant) with marginal exceedances at 110% BEP (+2.4%) and material exceedances at 60% BEP (off-design radial-thrust region). Transient signature is acceptable with a 34% separation margin. Sister-pump baseline provides reference but baseline gap (~0.25 mm/s higher for P-7402A) must be closed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Material Exceptions (Non-compliant)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43484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005840"/>
                <a:gridCol w="822960"/>
                <a:gridCol w="109728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Rule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Point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Measured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Limit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Margin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PMP_DE_H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3.89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+0.09 (+2.4%)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60% PMP_NDE_H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4.16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+0.36 (+9.5%)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60% PMP_NDE_V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4.50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+0.70 (+18.3%)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VR-002 Peak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BPF (SP-011)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2.964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2.50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+0.46 (+18.6%)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VR-002 Peak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1X (SP-008)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2.85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2.50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+0.35 (+14%)</a:t>
                      </a:r>
                    </a:p>
                  </a:txBody>
                  <a:tcPr anchor="ctr" marT="18288" marB="18288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4023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Board Actions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434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A-01  Confirm VR-001 (3.8 mm/s RMS) is governing contract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846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A-02  Accept 10 material exceptions (E-01–E-10) with documented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257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A-03  Authorize conditional release with 12 closure-action gates (C-01–C-12)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66927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A-04  Confirm sister-pump breather upgrade applied to P-7402A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53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rPr sz="800"/>
              <a:t>Reference: fat_integrity_workbook.xlsx  ·  Sheets: Disposition, FAT_Overall, FAT_Discrete, Discrepancy_Log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2.  Equipment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914400"/>
              </a:tblGrid>
              <a:tr h="35169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Tag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P-7402A / PWRI-220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Horizontal End-Suction Single-Stage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Produced Water Reinjection Circulation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Rated Flow / 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265 m³/h / 47.7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BEP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238.5 m³/h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Continuous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70 m³/h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Rated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75 kW, 380V, 50Hz Electric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Impeller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280 mm, Closed 6-vane, CF8M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Bearings DE/NDE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6316 C3 / 6314 C3 DGBB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Mechanical Seal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Cartridge, API Plan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 Pump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P-7402B (identical, commissioned 2025-06-20, 12840 hrs)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Scope of This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Original FAT conducted 2026-05-12 (pre-impeller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Impeller rework performed following elevated vibration at 60%/110% BEP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Repeat FAT conducted 2026-05-15 (post-impeller 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Assessment covers: overall vibration (VR-001), discrete components (VR-002), transient (run-up/coast-down), sister-pump baseline, test coverage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611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Evidence claims from equipment_evidence_ledger.csv treated as submitted/contradicted/field-verification-required — not approved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Governing rules extracted from vibration_acceptance_rule_matrix.csv with authority locators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F8F00"/>
                </a:solidFill>
              </a:defRPr>
            </a:pPr>
            <a:r>
              <a:t>Assumptions &amp;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95604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VR-001 (3.8 mm/s RMS) governs per effective date 2026-01-01; VR-000 (4.2) superseded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24865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Retest data is from same instrument setup as original FAT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54126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Sister-pump baseline (P-7402B) is representative of field-installed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83387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No performance/NPSH/hydrostatic retest data supplied — vibration scope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612648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Contract limit authority (ME-001/009/017) is 'submitted' not 'verified' — board must confirm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3.  Governing Rules &amp;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560320"/>
                <a:gridCol w="822960"/>
                <a:gridCol w="1828800"/>
                <a:gridCol w="3108960"/>
              </a:tblGrid>
              <a:tr h="374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Overall housing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3.8 mm/s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 (eff. 2026-01-01)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Discrete component 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2.5 mm/s 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60/90/100/110% BEP all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Purchase spec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RECORD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Mechanical run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≥ 4 hours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8.3.4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Bearing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82°C or ambient+45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82°C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8.3.4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0.025 mm TIR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Instrument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Certificate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quality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VR-009/10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Alarm / trip thresholds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Derived from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derived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Standards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COMMISSIONING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Missing retest 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 @ 60%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test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 GAP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Overall housing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4.2 mm/s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SUPERSEDED (w/d 2025-12-31)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t>Key note:  VR-000 (4.2 mm/s RMS) is explicitly marked 'superseded extract; withdrawal notice dated 2025-12-31' in the source matrix. It must NOT be used as the acceptance criterion. VR-001 (3.8 mm/s RMS, effective 2026-01-01) governs. However, the contract evidence rows ME-001/009/017 citing the 3.8 limit are in 'submitted' state — not independently verified by this board. Action A-01 requires the board to confirm authority from the purchase specification before final 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4.  Evidence Register — State of Submitted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62626"/>
                </a:solidFill>
              </a:defRPr>
            </a:pPr>
            <a:r>
              <a:t>equipment_evidence_ledger.csv — 24 evidence rows categorized by gate domain and state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4114800"/>
                <a:gridCol w="429768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 State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Board Implication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independently-verified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ME-002, ME-006, ME-010, ME-014, ME-018, ME-022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Calibration, field baseline — can be relied upon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ME-001, ME-005, ME-009, ME-013, ME-017, ME-021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limit &amp; maintenance history — NOT verified; must be confirmed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ME-003, ME-007, ME-011, ME-015, ME-019, ME-023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level &amp; shaft runout — requires field re-verification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field-verification-required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ME-004, ME-008, ME-012, ME-016, ME-020, ME-024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Alignment &amp; FAT test coverage — must close during commissioning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Critical Evidence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ME-001/009/017  — Contract vibration limit 3.8 mm/s RMS: 'submitted' not 'verified'. This is the governing rule. Board must confirm authority (Action A-01).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4515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ME-007/015/023  — Shaft runout 0.021 mm TIR: within VR-006 limit (0.025) but 'contradicted'. Independent measurement required (Safeguard S-04).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8406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ME-003/011/019  — Baseplate level 0.08 mm/m: 'contradicted'. Field re-survey required post-grouting (Safeguard S-03).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22975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ME-004/012/020  — Cold alignment 0.045 mm offset: 'field-verification-required'. Hot alignment check mandatory (Safeguard S-02).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6188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ME-005/013/021  — P-7402B WO history 'water ingress': 'submitted'. Root cause is bearing lubrication contamination — drives breather upgrade (Safeguard S-05).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5.  FAT Overall Vibration — Original vs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100% BEP Summary (Rated Duty)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Original max: 4.013 mm/s (DRV_DE_A, VIB-0003)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Retest max:  2.806 mm/s (DRV_DE_A, VIB-0069)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49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Improvement at DRV_DE_A: 1.207 mm/s (30%)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96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All 12 points at 100% BEP COMPLIANT with VR-001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DRV_DE_A margin: 3.80 - 2.806 = +0.994 mm/s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474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110% BEP (Overload)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Original PMP_DE_H: 5.41 mm/s (FAIL)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187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Retest PMP_DE_H:  3.89 mm/s (FAIL +0.09)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535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Improvement: 1.52 mm/s (28%)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82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Exceedance is marginal (+2.4%) but still non-compliant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30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DRV_NDE retest data MISSING at 110% (coverage gap D-07)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t>Retest coverage: 32 of 180 contract-required combinations captured (VR-003 matrix: 12 points × 3 directions × 5 flows = 180; 17.8%). Missing: 28 combinations (all DRV at 60/80/90/110; PMP at 60/80/90) — 12 are decision-relevant (original exceeded 3.8 at 60% BEP). See fat_integrity_workbook.xlsx &gt; 14_Coverage_Gap.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6.  60% BEP — Off-Design Exceedances (Radial Thrust Region)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62626"/>
                </a:solidFill>
              </a:defRPr>
            </a:pPr>
            <a:r>
              <a:t>At 60% BEP (143 m³/h), the pump operates well below BEP with significant radial thrust and hydraulic recirculation. This is expected to elevate vibration but the measured values substantially exceed VR-001.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731520"/>
                <a:gridCol w="82296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Original (mm/s)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Retest (mm/s)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-1.52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5.66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 DATA (D-09)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PMP_NDE_V retest 4.50 mm/s is +18.3% over limit — worst single exceedance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42032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PMP_NDE_H retest 4.16 mm/s is +9.5% over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80944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Both points improved vs original (PMP_NDE_V: 5.66→4.50, -20%) but remain non-compliant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41985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PMP_NDE_A retest data MISSING — VR-011 explicitly flags this as required evidence 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85876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Spectral evidence at 60% shows elevated 1X (2.58 PMP_DE_H) and BPF (1.59) — recirculation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297679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PNDE_H 1X at 60% = 2.964 mm/s peak (SP-042) — FAILS VR-002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F8F00"/>
                </a:solidFill>
              </a:defRPr>
            </a:pPr>
            <a:r>
              <a:t>Mitigation: Operational Constraint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62626"/>
                </a:solidFill>
              </a:defRPr>
            </a:pPr>
            <a:r>
              <a:t>SAFEGUARD S-06:  Minimum continuous flow enforced ≥ 80% BEP (≥191 m³/h) until field baseline confirms 60% BEP compliance with VR-001.</a:t>
            </a:r>
            <a:br/>
            <a:r>
              <a:t>This constrains operation above the radial-thrust region until field evidence closes the gap.</a:t>
            </a:r>
            <a:br/>
            <a:r>
              <a:t>Minimum continuous stable flow per datasheet is 70 m³/h — safeguard raises this to 191 m³/h pending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7.  Spectral Events — Discrete Component Compliance (VR-002)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640080"/>
                <a:gridCol w="640080"/>
                <a:gridCol w="914400"/>
                <a:gridCol w="914400"/>
                <a:gridCol w="640080"/>
                <a:gridCol w="22860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 mm/s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BPF(6X)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2.964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+18.6%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+14.0%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2.964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+18.6%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+10.2%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347.7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BPF+1X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BPF(6X)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VR-002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Total spectral events: 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9019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Compliant (≤ 2.5):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2494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Non-compliant (&gt; 2.5):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96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Highest peak: 2.964 mm/s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44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Concentration: 110% and 60% BEP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Spectral Pattern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BPF at 110% BEP (SP-011, 2.964 mm/s peak) is the highest discrete component — indicates volute/impeller interaction at high flow. Sidebands (BPF±1X) are modulated, suggesting cavitation or turbulence at volute tongue.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10328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1X at 110% BEP (SP-008, 2.85 mm/s) elevated vs 100% (SP-001, 2.00 mm/s) — increased radial load from off-BEP hydraulic forces. 2X at 110% (SP-009, 1.70 mm/s) suggests misalignment indicator under 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0096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At 90% BEP (near BEP at 238.5 m³/h), all spectral components are minimal — 1X=1.51, BPF=0.43 — confirming optimal hydraulic balance at design 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9864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At 60% BEP, 1X and 2X elevated across all pump points — consistent with radial thrust from recirculation. PNDE_H 1X (SP-042, 2.964 mm/s peak) FAILS VR-002.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99632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Motor axial (MDE_A) 1X at 100% (SP-059, 2.756 mm/s peak) — monitor for thrust bearing wear and angular misalignment. 2X axial (SP-060, 1.17) supports angular misalignment indicator.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8.  Transient Analysis — Run-Up &amp; Coast-Down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Derived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Rated speed: 2980 RPM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Steady-state vib: 2.964 mm/s 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49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Resonance band: 1812 - 1963 RPM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96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Resonance peak: ~2.83 mm/s 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Amplification factor: ~1.18 (modest)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9183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Separation margin: 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39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Coast-down time: 52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9867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Phase tracking: smooth, coherent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3342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Assessment: well-damped, single resonance below rated — acceptable for rigid-mount centrifugal pump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754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</a:defRPr>
            </a:pPr>
            <a:r>
              <a:t>API 610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0292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t>API 610 requires ≥ 20% separation margin for damped critical speeds below operating speed. Observed 34% separation exceeds this. Amplification factor &lt; 2.0 confirms well-damped system. Phase progression through resonance is coherent — no abrupt shift indicating structural looseness.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9.  Sister Pump Baseline — P-7402B Field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P-7402B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Commissioned 2025-06-20, identical PWRI-220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019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Location: Cooling Tower CT-3, rigid 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494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Current hours: 12,840 at 2026-12-10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968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DE bearing failure at 7,920 hrs (2026-05-28)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443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Root cause: water ingress via breather → contaminated lubricant → inner race spalling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9183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WO-2026-0847: bearing + seals replaced (18 hrs)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639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WO-2026-1103: upgraded desiccant breather fitted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9867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Post-repair baseline restored to 1.38 mm/s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Comparison: P-7402A Retest (90% BEP) vs P-7402B Field (95% BEP)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94960"/>
          <a:ext cx="1143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914400"/>
                <a:gridCol w="5852160"/>
              </a:tblGrid>
              <a:tr h="1698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P-7402A Retest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P-7402B 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residual imbalance or hydraulic signature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consistent pattern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bearing load signature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</a:t>
                      </a:r>
                    </a:p>
                  </a:txBody>
                  <a:tcPr anchor="ctr"/>
                </a:tc>
              </a:tr>
              <a:tr h="1698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thrust bearing load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10.  Unresolved Evidence &amp; Discrepancy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05840"/>
                <a:gridCol w="3657600"/>
                <a:gridCol w="2926080"/>
                <a:gridCol w="3474720"/>
              </a:tblGrid>
              <a:tr h="3314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Closure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 PMP_DE_H 3.89 &gt; 3.8 (+2.4%)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overload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re-verification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 PMP_NDE_H 4.16 &gt; 3.8 (+9.5%)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low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flow ≥80% BEP (S-06)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 PMP_NDE_V 4.50 &gt; 3.8 (+18.3%)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low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flow ≥80% BEP (S-06)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Spectral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110% 2.964 &gt; 2.5 peak (+18.6%)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 non-compliance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acoustic survey (S-09)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Spectral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 110% 2.85 &gt; 2.5 peak (+14%)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 non-compliance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re-verification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 (info)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80% BEP not in retest (not required by VR-003)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 comparison at 80%; not a compliance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baseline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DRV_NDE missing at 110% (3 pts)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 NDE unverified at overload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DRV missing at 90% (6 pts)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 unverified near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DRV+PMP_NDE_A missing at 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Thrust bearing assessment incomplete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limit 'submitted' not 'verified'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 rule authority uncertain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Board confirm (A-01)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'contradicted' 0.08 mm/m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Installation flatness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re-survey (S-03)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 'contradicted' 0.021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 state questioned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Independent check (S-04)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Alignment 'field-verification-required'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check (S-02)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P-7402B bearing failure (water ingress)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Service risk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Breather upgrade (S-05)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P-7402A ~0.25 mm/s higher than P-7402B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Baseline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trending (S-08)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11.  Uncertainty &amp;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Key Uncertainties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Retest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Only 32 of 180 required combinations captured (17.8%). DRV incomplete at 60/80/90/110; PMP missing at 60/80/90 (28 combinations, workbook 14_Coverage_Gap). Cannot fully characterize machine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Contract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ME-001/009/017 (3.8 mm/s limit) in 'submitted' state. If actual contract limit differs, disposition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Evidence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6 'contradicted' + 6 'field-verification-required' items. Foundation and alignment unknowns could shift vibration by 0.5-1.0 mm/s in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Sister Applicability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P-7402B at 12,840 hrs vs P-7402A at 0 hrs. Break-in effects, foundation differences, piping strain not accounted for.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Process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FAT on water at 35°C. Field service is produced water — density, viscosity, gas content differ. Vibration may increase.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Sensitivity Scenarios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155448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110% PMP_DE_H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Current retest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Baseline condition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+0.05 alignment degradation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~3.94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+3.7%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shift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+0.10 foundation/piping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~3.99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Typical field effect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+0.25 (sister-pump gap closure)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~4.14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Matches P-7402B field delta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Worst-case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~4.29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adverse effects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If VR-000 (4.2) were governing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But VR-000 is superseded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1792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Sensitivity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634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The 110% BEP margin of only 0.09 mm/s is highly sensitive to field conditions. Any realistic degradation (alignment shift, foundation settling, piping strain, process fluid change) will push the 110% point further into non-compliance. This is why closure action C-11 (monitored 90-100% BEP commissioning run with hold points) and C-08 (approve commissioning alarm ~2.4 / trip ~3.5 mm/s RMS per 9_Thresholds) are non-negotiable. At 90-100% BEP, margins are 1.0-1.5 mm/s — robust.</a:t>
            </a:r>
            <a:br/>
            <a:br/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12.  Commissioning Safeguards — 10 Mandatory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560320"/>
                <a:gridCol w="3200400"/>
                <a:gridCol w="914400"/>
                <a:gridCol w="4297680"/>
              </a:tblGrid>
              <a:tr h="33250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Safeguard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Acceptance Criteria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Hold 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Closes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vibration baseline (full matrix)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points ≤ VR-001 &amp; VR-002 at 60/80/90/100/110%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D-01..D-09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at operating 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API 610 / vendor spec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D-13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level re-verification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0.05 mm/m post-grouting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D-11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 independent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0.025 mm TIR (VR-006)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D-12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Desiccant breather upgrade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WO-2026-1103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D-14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continuous flow ≥ 80%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≥191 m³/h until S-01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D-02, D-03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Alarm/trip setpoints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VR-009/VR-010 from field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Protection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Intensified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Weekly × 1000 hrs then 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D-15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trending at 110%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peak ≤ 2.5 or stable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D-04</a:t>
                      </a:r>
                    </a:p>
                  </a:txBody>
                  <a:tcPr anchor="ctr"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shutdown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Any point &gt; 4.5 mm/s RMS → 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Risk mitigation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Hold-Point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Pre-startup (S-02, S-03, S-04, S-05): Mechanical installation verification. All must be CLOSED before first rotation.</a:t>
            </a:r>
            <a:br/>
            <a:r>
              <a:t>Startup (S-01, S-06, S-07): Field vibration baseline capture at all flow conditions. Minimum flow enforced until S-01 passes. Protection setpoints applied before sustained operation.</a:t>
            </a:r>
            <a:br/>
            <a:r>
              <a:t>Early life (S-08, S-09, S-10): Intensified surveillance with shutdown threshold at 4.5 mm/s RMS. BPF trending at 110% BEP to monitor volute/impeller interaction.</a:t>
            </a:r>
            <a:br/>
            <a:r>
              <a:t>Any hold-point failure triggers STOP and investigation. No bypass without board re-convening.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13.  Board Action &amp;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REQUESTED DISPOSITION:  CONDITIONAL RELEASE of P-7402A for offshore commissioning
Subject to 12 mandatory closure actions (C-01 through C-12) and 4 board actions (A-01 through A-04)</a:t>
            </a:r>
            <a:br/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Board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Confirm VR-001 (3.8 mm/s RMS, API 610 Table 8, effective 2026-01-01) is the governing contract limit. Verify ME-001/009/017 authority from purchase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11879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Accept 10 material exceptions (E-01 through E-10) with documented commissioning safeguards. Acknowledge residual risk at 60% and 110% BEP.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Authorize conditional release with closure actions C-01 through C-12 as mandatory hold-points. No bypass without board re-convening.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21208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Confirm sister-pump learning applied: upgraded desiccant breather (per WO-2026-1103) fitted to P-7402A before first startup.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Sign-Off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7432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73152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Rotating Equipment Reliability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Prepared &amp; 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Project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Reviewed — Scope &amp; Schedule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Maintenance Superintendent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Reviewed — Safeguard Resourcing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Technical Authority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Approved / Rejected / Conditional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262626"/>
                </a:solidFill>
              </a:defRPr>
            </a:pPr>
            <a:r>
              <a:t>Supporting documents:  fat_integrity_workbook.xlsx (auditable, formula-driven)  |  equipment_evidence_ledger.csv  |  fat_retest_measurements.csv  |  fat_spectral_events.csv  |  fat_runup_coastdown.csv  |  sister_pump_field_baseline_P7402B.csv  |  vibration_acceptance_rule_matrix.csv  |  pump_specification_P7402A.xlsx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