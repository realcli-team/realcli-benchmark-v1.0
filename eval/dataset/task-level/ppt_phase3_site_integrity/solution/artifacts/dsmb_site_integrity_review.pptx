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AURORA-HTN-317 DSMB Site &amp; Trial Integrity Review</a:t>
            </a:r>
          </a:p>
          <a:p>
            <a:r>
              <a:rPr sz="1300">
                <a:solidFill>
                  <a:srgbClr val="555555"/>
                </a:solidFill>
              </a:rPr>
              <a:t>Phase III randomized, double-blind, placebo-controlled trial of AHT-417 for uncontrolled hypertension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274A"/>
                </a:solidFill>
              </a:rPr>
              <a:t>Independent biostatistical review for the Data Safety Monitoring Board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74A"/>
                </a:solidFill>
              </a:rPr>
              <a:t>Population: ITT, n=480 (AHT-417 240 / Control 240)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74A"/>
                </a:solidFill>
              </a:rPr>
              <a:t>Primary endpoint: Week-24 change from baseline in seated SBP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274A"/>
                </a:solidFill>
              </a:rPr>
              <a:t>Review date 2026-08-23  |  Protocol review cutoff 2026-11-30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Executive Summary &amp; DSMB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Overall Week-24 treatment effect: +6.44 mmHg (Control minus AHT-417, 95% CI 5.37 to 7.50) - the Control arm's SBP fell by more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Influential site identified: SITE-08 (largest absolute site effect, 10.93 mmHg)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Conditional power at the last interim snapshot (AIS-017, IF=0.995) reconstructs to ~0.988 under the same-effect assumption; snapshots at/ beyond target (IF&gt;=1.0) have undefined conditional power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External care cohort is NOT independent: 480/480 baseline SBP exact match with trial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No executed unblinded DSMB interim review can be established from supplied records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Recommendation: do not accept efficacy claims until site integrity and external-cohort independence are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Governing Analysis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Population: ITT (all 480 randomized); endpoint Week-24 change from baseline in seated SBP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Endpoint imputation: LOCF cascade week24 -&gt; week12 -&gt; baseline; the 12 subjects with no post-baseline SBP contribute change = 0 (all sites keep full ITT denominators)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Model: chg ~ ctl * C(site)  (saturated treatment-by-site model; each site effect = within-site mean difference in SBP reduction)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Sign convention: Control minus AHT-417; positive = the Control arm's seated SBP fell by more at that site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Site effect = ctl main effect + ctl:C(site)[T.&lt;site&gt;] interaction = mean_chg(Control) - mean_chg(AHT-417)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Assumed treatment difference -5.5 mmHg; assumed SD 11.5 mmHg; alpha 0.05 (two-sided); power 90%%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Site heterogeneity assessed via the trt-by-site interaction; a baseline-adjusted site random-intercept integrity model is fit as a sensitivity (Sheet 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Site and Subgroup Effects with Uncertainty (Forest Plot)</a:t>
            </a:r>
          </a:p>
          <a:p>
            <a:r>
              <a:rPr sz="1300">
                <a:solidFill>
                  <a:srgbClr val="555555"/>
                </a:solidFill>
              </a:rPr>
              <a:t>Each site: treatment effect (Control minus AHT-417) with 95% CI; red = influential site</a:t>
            </a:r>
          </a:p>
        </p:txBody>
      </p:sp>
      <p:pic>
        <p:nvPicPr>
          <p:cNvPr id="3" name="Picture 2" descr="for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601200" cy="853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Site-Level Treatment Effects (12 Sites)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Effect (mmHg)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CI low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CI high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Influential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1.70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8.60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2.68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9.49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7.84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4.73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10.95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7.93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11.25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7.16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3.74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9.14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8.30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6.86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14.99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10.71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6.89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14.53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-0.59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6.06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2.46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-0.83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SITE-12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8.22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5.17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>11.27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74A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Subgroup Effects: Age &amp; Sex Treatment Interaction</a:t>
            </a:r>
          </a:p>
          <a:p>
            <a:r>
              <a:rPr sz="1300">
                <a:solidFill>
                  <a:srgbClr val="555555"/>
                </a:solidFill>
              </a:rPr>
              <a:t>Sign convention: Control minus AHT-417 (positive = Control arm's SBP fell by more)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766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Subgroup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 AHT/Ctl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Effect (mmHg)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95% CI (descriptive)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119/127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7.19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5.68 to 8.71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121/113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5.62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4.13 to 7.11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age_group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Age&lt;65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192/188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5.04 to 7.44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age_group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Age&gt;=65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48/52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7.14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4.88 to 9.41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37160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A274A"/>
                </a:solidFill>
              </a:rPr>
              <a:t>Treatment-by-subgroup INTERACTION test (governing):</a:t>
            </a:r>
          </a:p>
          <a:p>
            <a:pPr lvl="1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sex [C(sex)[T.Male]]: -1.58 mmHg (95% CI -3.70 to 0.55), p=0.147 -&gt; no significant interaction (p&gt;=0.05)</a:t>
            </a:r>
          </a:p>
          <a:p>
            <a:pPr lvl="1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age_group [C(age_group)[T.Age&gt;=65]]: 0.91 mmHg (95% CI -1.71 to 3.53), p=0.496 -&gt; no significant interaction (p&gt;=0.05)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274A"/>
                </a:solidFill>
              </a:rPr>
              <a:t>Principle: heterogeneity is inferred from the interaction test above, NOT from separate within-subgroup significance tests (which conflate power with true effect modification and ignore multiplicity).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Conditional Power Reconstruction -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Information convention: IF = week24_observed / target_information (target = 408)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observed_z = effect_estimate_mmHg / standard_error_mmHg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projected_final_z_same_effect = observed_z / sqrt(IF)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cp = Phi(zp + delta/sqrt(N) - z_a) + Phi(-zp - delta/sqrt(N) - z_a)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   delta = -5.5 mmHg (assumed difference), N = 408, z_a = 1.96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At/ beyond target (IF &gt;= 1.0): conditional power not defined (null)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Conditional Power Across 24 Information Snapshots</a:t>
            </a:r>
          </a:p>
          <a:p>
            <a:r>
              <a:rPr sz="1300">
                <a:solidFill>
                  <a:srgbClr val="555555"/>
                </a:solidFill>
              </a:rPr>
              <a:t>Reconstructed from AIS-001..024; dashed line = 90% power threshold</a:t>
            </a:r>
          </a:p>
        </p:txBody>
      </p:sp>
      <p:pic>
        <p:nvPicPr>
          <p:cNvPr id="3" name="Picture 2" descr="conditional_powe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63040"/>
            <a:ext cx="9144000" cy="5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Conditional Power - Selected Snapshots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Snapshot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Info fraction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observed_z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proj final z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Cond. power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0.1936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-1.7297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-3.9309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0.987559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0.4608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-2.0317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-2.9931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0.904119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0.6961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-2.4615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-2.9504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0.896646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0.9167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-3.1220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-3.2608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0.942148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0.9951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-3.9381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-3.9478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0.988093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1.0245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-4.8525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-4.7941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nan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AIS-024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1.0245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-8.6496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-8.5455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74A"/>
                          </a:solidFill>
                        </a:rP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Planned Calculation vs Executed Interim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Planned: one blinded information review and one unblinded DSMB review at 60% information (protocol)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This deck reconstructs the PLANNED conditional-power calculation from the 24 dated snapshots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Executed unblinded DSMB review: CANNOT be established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- No attested DSMB meeting minutes in supplied materials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- No unblinded analysis record or access log in supplied materials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- Sponsor ledger entries are assertions, not execution evidence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Conclusion: the interim review is a planned calculation, not a verified executed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Site Leave-One-Out (Overall Effect Refit, Control minus AHT-417)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Dropped site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LOO effect (mmHg)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Delta vs full</a:t>
                      </a:r>
                    </a:p>
                  </a:txBody>
                  <a:tcPr>
                    <a:solidFill>
                      <a:srgbClr val="1A27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5.42 to 7.67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5.37 to 7.60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+0.05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5.18 to 7.43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-0.13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5.22 to 7.41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6.38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5.27 to 7.49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-0.06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5.37 to 7.60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+0.05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5.44 to 7.68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+0.13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5.07 to 7.28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5.14 to 7.21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6.79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5.68 to 7.90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+0.35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6.82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5.72 to 7.92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+0.39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SITE-12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6.19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0.58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5.05 to 7.33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74A"/>
                          </a:solidFill>
                        </a:rPr>
                        <a:t>-0.24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External Care Benchmark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External cohort: 960 rows / 480 unique persons, 2 records per person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Baseline SBP identical: 480 of 480 exact match with trial baseline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Verdict: FAIL INDEPENDENCE - external cohort overlaps the trial on baseline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Strata (care_setting x record_complete): community referral 42 no / 438 yes; urgent clinic 42 no / 438 yes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Period / setting / variable limitations stated; not treated as trial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Missing Data &amp; ITT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ITT: all 480 randomized retained; complete ITT values = 480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Week-12 missing: 12  |  Week-24 missing: 42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Discontinued: 42 (8.8%)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Governing endpoint imputation: LOCF cascade week24 -&gt; week12 -&gt; baseline (consistent with README / Sheet 02 / Sheet 06)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Week-24 non-visits use the carried-forward Week-12 value; the 12 subjects with no post-baseline SBP contribute change = 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All sites therefore keep the full ITT denominators (38/43/48/...)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Cross-Source Contradiction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Protocol synopsis vs information snapshots: population labels differ (ITT / modified ITT / per protocol)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Sponsor evidence ledger: information-version entries are assertions without resolvable locators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274A"/>
                </a:solidFill>
              </a:rPr>
              <a:t>Site randomization mapping: legacy center codes consolidated into 12 analysis sites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74A"/>
                </a:solidFill>
              </a:rPr>
              <a:t>Boundary: material contradictions are bounded, not resolved, where records are absent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74A"/>
                </a:solidFill>
              </a:rPr>
              <a:t>DSMB Recommendations &amp;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1 - IMMEDIATE: Do not accept any efficacy claim until site integrity is resolved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  Influential site SITE-08 drives a large share of the pooled effect; require site audit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2 - IMMEDIATE: Require sponsor to reconcile external cohort with trial baseline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     Independence not established (480/480 baseline match)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A274A"/>
                </a:solidFill>
              </a:rPr>
              <a:t>3 - IMMEDIATE: Provide attested DSMB minutes or confirm no unblinded review executed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74A"/>
                </a:solidFill>
              </a:rPr>
              <a:t>4 - ROUTINE: Disclose full 24-snapshot conditional-power ladder in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AURORA-HTN-317 DSMB Site &amp; Trial Integrity Review  |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2013-01-27T09:15:58Z</dcterms:modified>
  <cp:category/>
</cp:coreProperties>
</file>